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822960" cy="8229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3F4F6"/>
                </a:solidFill>
              </a:defRPr>
            </a:pPr>
            <a:r>
              <a:t>RetailIQ</a:t>
            </a:r>
          </a:p>
          <a:p>
            <a:pPr>
              <a:spcBef>
                <a:spcPts val="800"/>
              </a:spcBef>
              <a:defRPr sz="2400" b="1">
                <a:solidFill>
                  <a:srgbClr val="06B6D4"/>
                </a:solidFill>
              </a:defRPr>
            </a:pPr>
            <a:r>
              <a:t>Recover the Purchase. Learn What to Stock Next.</a:t>
            </a:r>
          </a:p>
          <a:p>
            <a:pPr>
              <a:spcBef>
                <a:spcPts val="1000"/>
              </a:spcBef>
              <a:defRPr sz="1500">
                <a:solidFill>
                  <a:srgbClr val="9CA3AF"/>
                </a:solidFill>
              </a:defRPr>
            </a:pPr>
            <a:r>
              <a:t>An Autonomous Closed-Loop Retail Intelligence Engine Powered by Google Gemini &amp; Deterministic Inventory Math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0"/>
            <a:ext cx="2514600" cy="13716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2600" b="1">
                <a:solidFill>
                  <a:srgbClr val="F59E0B"/>
                </a:solidFill>
              </a:defRPr>
            </a:pPr>
            <a:r>
              <a:t>₹1.2T</a:t>
            </a:r>
          </a:p>
          <a:p>
            <a:pPr algn="ctr">
              <a:defRPr sz="1100">
                <a:solidFill>
                  <a:srgbClr val="9CA3AF"/>
                </a:solidFill>
              </a:defRPr>
            </a:pPr>
            <a:r>
              <a:t>Global Stockout Leakage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4572000"/>
            <a:ext cx="2514600" cy="13716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100%</a:t>
            </a:r>
          </a:p>
          <a:p>
            <a:pPr algn="ctr">
              <a:defRPr sz="1100">
                <a:solidFill>
                  <a:srgbClr val="9CA3AF"/>
                </a:solidFill>
              </a:defRPr>
            </a:pPr>
            <a:r>
              <a:t>Deterministic ATP Locks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572000"/>
            <a:ext cx="2514600" cy="13716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2600" b="1">
                <a:solidFill>
                  <a:srgbClr val="06B6D4"/>
                </a:solidFill>
              </a:defRPr>
            </a:pPr>
            <a:r>
              <a:t>+₹15,074</a:t>
            </a:r>
          </a:p>
          <a:p>
            <a:pPr algn="ctr">
              <a:defRPr sz="1100">
                <a:solidFill>
                  <a:srgbClr val="9CA3AF"/>
                </a:solidFill>
              </a:defRPr>
            </a:pPr>
            <a:r>
              <a:t>Net Margin per Transfer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4572000"/>
            <a:ext cx="2514600" cy="13716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2600" b="1">
                <a:solidFill>
                  <a:srgbClr val="8B5CF6"/>
                </a:solidFill>
              </a:defRPr>
            </a:pPr>
            <a:r>
              <a:t>0 Qty</a:t>
            </a:r>
          </a:p>
          <a:p>
            <a:pPr algn="ctr">
              <a:defRPr sz="1100">
                <a:solidFill>
                  <a:srgbClr val="9CA3AF"/>
                </a:solidFill>
              </a:defRPr>
            </a:pPr>
            <a:r>
              <a:t>AI Restraint on Social Fads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AI BUILDER CUP 2026 · RETAIL &amp; 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3F4F6"/>
                </a:solidFill>
              </a:defRPr>
            </a:pPr>
            <a:r>
              <a:t>The ₹35 Lakh Problem: Lost Sales &amp; Trapped Working Capital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1. The Shopper Dilemma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4.2% of retail sales are lost permanently due to unexpected stockouts.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72% of shoppers walk out instead of browsing manual substitutes.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High friction: customer drives to store only to discover phantom inventory.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E-commerce giants capture the walkaway revenue with same-day delivery.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2. The Reactive Merchandiser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Traditional ERPs react to stockouts by firing expensive overseas POs.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Suppliers demand high MOQs (36+ units) and 14-day lead times.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Over ₹35 Lakhs of working capital is trapped in slow-moving warehouse pallets.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S1 suffers stockout while sister store S2 sits on 32 excess units!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8B5CF6"/>
                </a:solidFill>
              </a:defRPr>
            </a:pPr>
            <a:r>
              <a:t>3. The Generative AI Danger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Generative LLMs hallucinate phantom inventory and fictitious pricing.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A single hallucinated unit breaks customer trust and corrupts supply chains.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Uncontrolled agents blindly order stock based on viral TikTok hype.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Enterprise retail demands strict mathematical ledger guarantees.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AI BUILDER CUP 2026 · RETAIL &amp; 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3F4F6"/>
                </a:solidFill>
              </a:defRPr>
            </a:pPr>
            <a:r>
              <a:t>The Solution: A Closed-Loop Intelligence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804672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Step 1: Shopper Discovery: </a:t>
            </a:r>
            <a:r>
              <a:rPr sz="1200" b="0">
                <a:solidFill>
                  <a:srgbClr val="F3F4F6"/>
                </a:solidFill>
              </a:rPr>
              <a:t>Conversational Gemini 2.5 Flash normalizes fuzzy queries into typed specs (10,000 mAh, USB-C, &lt;₹1,500).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78608"/>
            <a:ext cx="10698480" cy="804672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Step 2: Grounded Substitute: </a:t>
            </a:r>
            <a:r>
              <a:rPr sz="1200" b="0">
                <a:solidFill>
                  <a:srgbClr val="F3F4F6"/>
                </a:solidFill>
              </a:rPr>
              <a:t>Preferred SKU out of stock -&gt; Instantly surfaces verified in-stock VoltGo Go with side-by-side spec parity.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11296"/>
            <a:ext cx="10698480" cy="804672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Step 3: Row-Locked Hold: </a:t>
            </a:r>
            <a:r>
              <a:rPr sz="1200" b="0">
                <a:solidFill>
                  <a:srgbClr val="F3F4F6"/>
                </a:solidFill>
              </a:rPr>
              <a:t>15-minute countdown reservation backed by PostgreSQL 'SELECT ... FOR UPDATE' row lock. Zero phantom stock.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43984"/>
            <a:ext cx="10698480" cy="804672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300" b="1">
                <a:solidFill>
                  <a:srgbClr val="8B5CF6"/>
                </a:solidFill>
              </a:defRPr>
            </a:pPr>
            <a:r>
              <a:t>Step 4: Physical Handover: </a:t>
            </a:r>
            <a:r>
              <a:rPr sz="1200" b="0">
                <a:solidFill>
                  <a:srgbClr val="F3F4F6"/>
                </a:solidFill>
              </a:rPr>
              <a:t>Associate scans barcode; handover fulfills order, atomically decrementing on-hand stock (12 -&gt; 11 units).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76672"/>
            <a:ext cx="10698480" cy="804672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Step 5: Multi-Store Rebalance: </a:t>
            </a:r>
            <a:r>
              <a:rPr sz="1200" b="0">
                <a:solidFill>
                  <a:srgbClr val="F3F4F6"/>
                </a:solidFill>
              </a:rPr>
              <a:t>Decision engine detects S1 stockout and executes S2 -&gt; S1 transfer (+₹15,074 margin) with human approval.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AI BUILDER CUP 2026 · RETAIL &amp; 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3F4F6"/>
                </a:solidFill>
              </a:defRPr>
            </a:pPr>
            <a:r>
              <a:t>Positive Community &amp; Environmental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Empowering Local Physical Retailers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Levels the playing field for local and regional brick-and-mortar stores against e-commerce monopolies.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BOPIS (Buy Online, Pick-up In Store) keeps commerce and tax revenue within neighborhood communities.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Frees working capital for kiranas and retail franchisees to hire and expand.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219456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Slashing Logistics Carbon Emissions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Short-distance inter-store transfers (1-day local van) eliminate long-haul freight from centralized factories.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Dramatically reduces fuel consumption and urban transport emissions.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Prevents unneeded manufacturing of excess units destined for scrap.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Eliminating Landfill &amp; Dead Stock Waste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AI Restraint prevents ordering viral fads (e.g. Glow Clips) that end up discarded in municipal landfills.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Dynamic multi-echelon rebalancing ensures products find genuine consumers before expiration.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Fosters a circular, zero-waste retail ecosystem.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114800"/>
            <a:ext cx="5120640" cy="219456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8B5CF6"/>
                </a:solidFill>
              </a:defRPr>
            </a:pPr>
            <a:r>
              <a:t>Restoring Consumer Trust &amp; Efficiency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Guaranteed inventory holds eliminate wasted physical trips and frustrated journeys.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Transparent price and spec comparisons prevent predatory upselling.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Builds lasting community confidence between shoppers and store associates.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AI BUILDER CUP 2026 · RETAIL &amp; 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3F4F6"/>
                </a:solidFill>
              </a:defRPr>
            </a:pPr>
            <a:r>
              <a:t>Production-Grade Feasibility &amp; Technical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Frontend &amp; Edge Tier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React 18, TypeScript, Vite 5 SPA.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Firebase Hosting global edge CDN.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Tailwind CSS responsive design system.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Anonymous Firebase UID tenancy isolation.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Playwright E2E tested with 0 console errors.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Core Services Tier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Google Cloud Run containerized FastAPI.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Deterministic ATP &amp; 15-min reservation hold.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Multi-echelon rebalancing decision engine.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IdempotencyRecord prevents duplicate orders.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UsageBucket token-bucket rate limiting.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Data &amp; Intelligence Tier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Cloud SQL PostgreSQL 17 (32 tables).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Row-level locking ('SELECT ... FOR UPDATE').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Gemini 2.5 Flash via Vertex AI Cloud ADC.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Fallback adapter when credentials absent.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Immutable SHA-256 cryptographic trace.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AI BUILDER CUP 2026 · RETAIL &amp; 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3F4F6"/>
                </a:solidFill>
              </a:defRPr>
            </a:pPr>
            <a:r>
              <a:t>AI Restraint: Separating Real Utility from Social Fads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High-Utility Search Spike (Solar Lantern)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Signal: Search query volume surged +380% for outdoor emergency lighting.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Context: Regional monsoon season approaching Bengaluru.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Classification: High-intent, non-frivolous consumer demand.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AI Restraint Policy: Capped demand forecast uplift at conservative +25% safety ceiling.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Outcome: Approved safe PO for 18 units; captures ₹18,000 margin without overbuying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8B5CF6"/>
                </a:solidFill>
              </a:defRPr>
            </a:pPr>
            <a:r>
              <a:t>Viral Social Media Fad (LumaTrail Glow Clip)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Signal: TikTok / Instagram video views spiked +420% for novelty clip.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Context: Zero correlation with local cart conversions or repeat baskets.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Classification: Short-lived viral hype with 28% source reliability.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AI Restraint Policy: Damped to 'MONITOR ONLY' (Recommended Qty: 0 units).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Outcome: Rejected ₹1.2 Lakh supplier PO; completely prevented trapped dead stock.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AI BUILDER CUP 2026 · RETAIL &amp; 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3F4F6"/>
                </a:solidFill>
              </a:defRPr>
            </a:pPr>
            <a:r>
              <a:t>Economic Feasibility: Transfer vs. Purchase Economics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The Mathematical Rebalancing Trade-Off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Option A: Inter-Store Transfer from S2 (Optimal)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  • Logistics Cost: ₹1,360 local van dispatch.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  • Lead Time: 1 day (recovers stockout before Day 2).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  • Capital Bound: ₹0 new supplier capital.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  • Net Margin Contribution: +₹15,074.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Option B: Supplier Purchase Order (Sub-optimal)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  • Unit Cost: ₹25,380 bound working capital.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  • Minimum Order Quantity (MOQ): 36 units.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  • Lead Time: 5 days (stockout persists for 3 days).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  • Net Result: 2 lost sales (₹2,598 loss) + trapped inventory.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SaaS Commercialization Model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1. Base Platform Subscription: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  • Tier 1 (1–5 Stores): $199/month.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  • Tier 2 (6–25 Stores): $799/month.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  • Enterprise (25+ Stores): Custom multi-region deployment.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2. Value-Share Success Fee: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  • 1.2% fee on recovered revenue from substitute orders that would have otherwise walked out.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3. ROI Guarantee: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  • 8.4x typical ROI within 90 days from saved working capital and recovered stockout conversions.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AI BUILDER CUP 2026 · RETAIL &amp; 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3F4F6"/>
                </a:solidFill>
              </a:defRPr>
            </a:pPr>
            <a:r>
              <a:t>Scalability Roadmap: From Prototype to Enterprise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Phase 1: Working Prototype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Current Milestone (Today)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• 4-node Bengaluru retail network (S1, S2, S3, DC1).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• 24 SKUs, 4,032 sales records.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• Gemini 2.5 Flash intent parsing.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• 15-minute row-locked hold TTL.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• 10/10 automated tests passed.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• Full Playwright E2E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Phase 2: 90-Day Pilot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Commercial Pilot (Q1 2027)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• 50 retail store deployment.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• Shopify &amp; WooCommerce connectors.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• Tally &amp; SAP Business One ERP sync.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• WhatsApp Business BOPIS bot.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• Multi-tenant schema isolation.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• Pilot target: 20% stockout recovery.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8B5CF6"/>
                </a:solidFill>
              </a:defRPr>
            </a:pPr>
            <a:r>
              <a:t>Phase 3: National Scale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Enterprise Platform (Q3 2027)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• 10,000+ store nodes nationwide.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• Multi-region Cloud SQL replication.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• BigQuery ML demand ingestion.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• Automated EDI X12 supplier ordering.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• Autonomous cross-dock logistics.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• Target: $100M+ saved working capital.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AI BUILDER CUP 2026 · RETAIL &amp; 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3F4F6"/>
                </a:solidFill>
              </a:defRPr>
            </a:pPr>
            <a:r>
              <a:t>Independent Verification &amp; Production Readiness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Automated Test Suite (10/10 Passed)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test_frontend_full_browser_contract : PASSED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test_health_endpoints : PASSED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test_seed_counts : PASSED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test_s01_and_s02_grounded_shopping_and_substitute : PASSED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test_s03_feasible_transaction_loop : PASSED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test_s06_planning_transfer_vs_purchase : PASSED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test_s07_and_s08_trend_action_and_monitor : PASSED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test_s09_catalog_audit_and_patch : PASSED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test_idempotency_order_placement : PASSED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test_demo_reset_and_product_image_categories : PASSED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100% pass rate on completely fresh databases!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E2E Browser &amp; Operational Verification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Playwright Chromium Test across all 8 workflows: 0 errors.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Live 15-Minute countdown timer verified in real browser.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Store associate physical handover decrements stock (12 -&gt; 11).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Transfer vs PO rebalancing verified with human approval.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AEO catalog audit checks (C01-C08) elevated score to 94%.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Reset endpoint ('POST /api/v1/demo/reset') guarantees clean testing.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Containerized with multi-stage Dockerfile for Cloud Run.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AI BUILDER CUP 2026 · RETAIL &amp; 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3F4F6"/>
                </a:solidFill>
              </a:defRPr>
            </a:pPr>
            <a:r>
              <a:t>Conclusion: The Future of Frictionless Retail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Summary of AI Builder Cup 2026 Deliverables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1. Compelling AI Vision: Solves retail's fundamental dilemma by marrying conversational Gemini AI with deterministic transactional row locks.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2. Community Impact: Empowers neighborhood brick-and-mortar stores, eliminates dead stock landfill waste, and cuts freight carbon emissions.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3. High Feasibility: 100% implemented, passing 10/10 backend integration tests and complete Playwright E2E browser tests.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4. Scalability: Cloud Run stateless container, Cloud SQL PostgreSQL 17, and enterprise Vertex AI gateway ready to scale from 3 stores to 10,000.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Submission Links &amp; Resources: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  • Public Code Repository: https://github.com/swaraj-dash/RetailIQ.git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  • Unified Application Demo: http://127.0.0.1:8000 (Single port REST API + React SPA)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  • Archify Interactive Architecture Deck: http://127.0.0.1:8000/presentation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  • Official Video Walkthrough Transcript: docs/TRANSCRIPT.md (2m 50s)</a:t>
            </a:r>
          </a:p>
          <a:p>
            <a:pPr>
              <a:spcAft>
                <a:spcPts val="500"/>
              </a:spcAft>
              <a:defRPr sz="1200">
                <a:solidFill>
                  <a:srgbClr val="F3F4F6"/>
                </a:solidFill>
              </a:defRPr>
            </a:pPr>
            <a:r>
              <a:t>•   • Full Master Specifications: docs/00_MASTER_PLAN to 15_VALIDATION_REPORT.md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